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87436a30ed4b6a" /><Relationship Type="http://schemas.openxmlformats.org/officeDocument/2006/relationships/extended-properties" Target="/docProps/app.xml" Id="Rcfdaa6a3bde040f8" /><Relationship Type="http://schemas.openxmlformats.org/officeDocument/2006/relationships/officeDocument" Target="/ppt/presentation.xml" Id="R023ab029f53e4d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be3865eebf4339"/>
  </p:sldMasterIdLst>
  <p:notesMasterIdLst>
    <p:notesMasterId xmlns:r="http://schemas.openxmlformats.org/officeDocument/2006/relationships" r:id="Re31c293afc324a11"/>
  </p:notesMasterIdLst>
  <p:sldIdLst>
    <p:sldId xmlns:r="http://schemas.openxmlformats.org/officeDocument/2006/relationships" id="256" r:id="R4cc1905af04b4ab3"/>
    <p:sldId xmlns:r="http://schemas.openxmlformats.org/officeDocument/2006/relationships" id="257" r:id="Rbbcc6ed8f90c40b1"/>
    <p:sldId xmlns:r="http://schemas.openxmlformats.org/officeDocument/2006/relationships" id="258" r:id="R16402f9f2f5f4cbd"/>
    <p:sldId xmlns:r="http://schemas.openxmlformats.org/officeDocument/2006/relationships" id="259" r:id="Ra31016c2a85a45b2"/>
  </p:sldIdLst>
  <p:sldSz cx="10692000" cy="756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8d118fa4024e22" /><Relationship Type="http://schemas.openxmlformats.org/officeDocument/2006/relationships/slideMaster" Target="/ppt/slideMasters/slideMaster1.xml" Id="R2fbe3865eebf4339" /><Relationship Type="http://schemas.openxmlformats.org/officeDocument/2006/relationships/notesMaster" Target="/ppt/notesMasters/notesMaster1.xml" Id="Re31c293afc324a11" /><Relationship Type="http://schemas.openxmlformats.org/officeDocument/2006/relationships/presProps" Target="/ppt/presProps.xml" Id="R34d39537fbf64efc" /><Relationship Type="http://schemas.openxmlformats.org/officeDocument/2006/relationships/tableStyles" Target="/ppt/tableStyles.xml" Id="R154528844fe7495e" /><Relationship Type="http://schemas.openxmlformats.org/officeDocument/2006/relationships/slide" Target="/ppt/slides/slide1.xml" Id="R4cc1905af04b4ab3" /><Relationship Type="http://schemas.openxmlformats.org/officeDocument/2006/relationships/slide" Target="/ppt/slides/slide2.xml" Id="Rbbcc6ed8f90c40b1" /><Relationship Type="http://schemas.openxmlformats.org/officeDocument/2006/relationships/slide" Target="/ppt/slides/slide3.xml" Id="R16402f9f2f5f4cbd" /><Relationship Type="http://schemas.openxmlformats.org/officeDocument/2006/relationships/slide" Target="/ppt/slides/slide4.xml" Id="Ra31016c2a85a45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02ac138bca45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127e81f73243b6" /><Relationship Type="http://schemas.openxmlformats.org/officeDocument/2006/relationships/notesMaster" Target="/ppt/notesMasters/notesMaster1.xml" Id="R3be40ec39f294c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c0e2deac2c4fe9" /><Relationship Type="http://schemas.openxmlformats.org/officeDocument/2006/relationships/notesMaster" Target="/ppt/notesMasters/notesMaster1.xml" Id="R324965c5061540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14fb3a0d9c4804" /><Relationship Type="http://schemas.openxmlformats.org/officeDocument/2006/relationships/notesMaster" Target="/ppt/notesMasters/notesMaster1.xml" Id="Rf7f773e8457340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911aa8ae8f483b" /><Relationship Type="http://schemas.openxmlformats.org/officeDocument/2006/relationships/notesMaster" Target="/ppt/notesMasters/notesMaster1.xml" Id="Rabc978ba786a41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00685648ea4a4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3afa3b259448d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576f32b9f64c0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7502d29dcb481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ece64609294d3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e95acdef9648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28E3BD-FB9B-40F3-A1E0-DC003ACFA9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9200" y="2856000"/>
            <a:ext cx="8553600" cy="10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166C67F-4856-40FC-AADC-65A592827F0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03800" y="4158000"/>
            <a:ext cx="7484400" cy="8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1BB7C77-09AC-4A0E-B9CF-2352BC98D9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9200" y="3150000"/>
            <a:ext cx="8553600" cy="12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A6A948-23C8-4F36-A30F-A89BFF2C87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1425" y="588000"/>
            <a:ext cx="9489150" cy="9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144318E-B718-448A-8D30-6AA3749090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1425" y="2100000"/>
            <a:ext cx="9489150" cy="47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1pPr>
            <a:lvl2pPr marL="4677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2pPr>
            <a:lvl3pPr marL="7350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3pPr>
            <a:lvl4pPr marL="10023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4pPr>
            <a:lvl5pPr marL="12696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5pPr>
            <a:lvl6pPr marL="15369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6pPr>
            <a:lvl7pPr marL="18042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7pPr>
            <a:lvl8pPr marL="20715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8pPr>
            <a:lvl9pPr marL="23388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4DBDBAA-9508-4A05-A384-CE48080372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1425" y="588000"/>
            <a:ext cx="9489150" cy="9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1AC00D-871A-48A5-A571-BD965F90B7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1425" y="2100000"/>
            <a:ext cx="4410450" cy="47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1pPr>
            <a:lvl2pPr marL="4677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2pPr>
            <a:lvl3pPr marL="7350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3pPr>
            <a:lvl4pPr marL="10023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4pPr>
            <a:lvl5pPr marL="12696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5pPr>
            <a:lvl6pPr marL="15369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6pPr>
            <a:lvl7pPr marL="18042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7pPr>
            <a:lvl8pPr marL="20715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8pPr>
            <a:lvl9pPr marL="23388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9043598-1309-40B6-9E6D-948C8C45305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680125" y="2100000"/>
            <a:ext cx="4410450" cy="47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1pPr>
            <a:lvl2pPr marL="4677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2pPr>
            <a:lvl3pPr marL="7350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3pPr>
            <a:lvl4pPr marL="10023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4pPr>
            <a:lvl5pPr marL="12696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5pPr>
            <a:lvl6pPr marL="15369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6pPr>
            <a:lvl7pPr marL="18042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7pPr>
            <a:lvl8pPr marL="20715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8pPr>
            <a:lvl9pPr marL="23388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8BDCF8-466F-4519-8455-06190BE4CF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1425" y="588000"/>
            <a:ext cx="9489150" cy="9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8830225-C73D-4315-97A7-1FE26C0F23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1425" y="2100000"/>
            <a:ext cx="4410450" cy="47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1pPr>
            <a:lvl2pPr marL="4677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2pPr>
            <a:lvl3pPr marL="7350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3pPr>
            <a:lvl4pPr marL="10023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4pPr>
            <a:lvl5pPr marL="12696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5pPr>
            <a:lvl6pPr marL="15369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6pPr>
            <a:lvl7pPr marL="18042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7pPr>
            <a:lvl8pPr marL="20715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8pPr>
            <a:lvl9pPr marL="23388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840a0bac944b9d" /><Relationship Type="http://schemas.openxmlformats.org/officeDocument/2006/relationships/slideLayout" Target="/ppt/slideLayouts/slideLayout1.xml" Id="R257091d851fb4d8d" /><Relationship Type="http://schemas.openxmlformats.org/officeDocument/2006/relationships/slideLayout" Target="/ppt/slideLayouts/slideLayout2.xml" Id="R98002fc0eb5a46e1" /><Relationship Type="http://schemas.openxmlformats.org/officeDocument/2006/relationships/slideLayout" Target="/ppt/slideLayouts/slideLayout3.xml" Id="R927c00750ba6451f" /><Relationship Type="http://schemas.openxmlformats.org/officeDocument/2006/relationships/slideLayout" Target="/ppt/slideLayouts/slideLayout4.xml" Id="R4c9e72aba4984d91" /><Relationship Type="http://schemas.openxmlformats.org/officeDocument/2006/relationships/slideLayout" Target="/ppt/slideLayouts/slideLayout5.xml" Id="R10a4e330a6e74d3b" /><Relationship Type="http://schemas.openxmlformats.org/officeDocument/2006/relationships/slideLayout" Target="/ppt/slideLayouts/slideLayout6.xml" Id="R9656ab5eed6a44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7091d851fb4d8d"/>
    <p:sldLayoutId xmlns:r="http://schemas.openxmlformats.org/officeDocument/2006/relationships" id="2147483650" r:id="R98002fc0eb5a46e1"/>
    <p:sldLayoutId xmlns:r="http://schemas.openxmlformats.org/officeDocument/2006/relationships" id="2147483651" r:id="R927c00750ba6451f"/>
    <p:sldLayoutId xmlns:r="http://schemas.openxmlformats.org/officeDocument/2006/relationships" id="2147483652" r:id="R4c9e72aba4984d91"/>
    <p:sldLayoutId xmlns:r="http://schemas.openxmlformats.org/officeDocument/2006/relationships" id="2147483653" r:id="R10a4e330a6e74d3b"/>
    <p:sldLayoutId xmlns:r="http://schemas.openxmlformats.org/officeDocument/2006/relationships" id="2147483654" r:id="R9656ab5eed6a44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98461b3b464702" /><Relationship Type="http://schemas.openxmlformats.org/officeDocument/2006/relationships/notesSlide" Target="/ppt/notesSlides/notesSlide1.xml" Id="R6b509d1c3cdd40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e570de01874c0b" /><Relationship Type="http://schemas.openxmlformats.org/officeDocument/2006/relationships/chart" Target="/ppt/slides/charts/chart1.xml" Id="R4f3c31d7e12443ea" /><Relationship Type="http://schemas.openxmlformats.org/officeDocument/2006/relationships/notesSlide" Target="/ppt/notesSlides/notesSlide2.xml" Id="R3a8de7fec5a844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51cfc96a514aed" /><Relationship Type="http://schemas.openxmlformats.org/officeDocument/2006/relationships/notesSlide" Target="/ppt/notesSlides/notesSlide3.xml" Id="Raaddd3e6fb7b45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6d31765f2141ef" /><Relationship Type="http://schemas.openxmlformats.org/officeDocument/2006/relationships/notesSlide" Target="/ppt/notesSlides/notesSlide4.xml" Id="Re9dff19fb5754d1a" /></Relationships>
</file>

<file path=ppt/slides/charts/chart1.xml><?xml version="1.0" encoding="utf-8"?>
<c:chartSpace xmlns:c="http://schemas.openxmlformats.org/drawingml/2006/chart">
  <c:lang val="en-US"/>
  <c:chart>
    <c:plotArea>
      <c:radarChart>
        <c:radarStyle val="standard"/>
        <c:varyColors val="0"/>
        <c:ser>
          <c:idx val="0"/>
          <c:order val="0"/>
          <c:tx>
            <c:v>A  Essential</c:v>
          </c:tx>
          <c:spPr>
            <a:ln xmlns:a="http://schemas.openxmlformats.org/drawingml/2006/main" w="19050">
              <a:solidFill>
                <a:srgbClr val="1C1C1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1C1C1A"/>
              </a:solidFill>
            </c:spPr>
          </c:marker>
          <c:cat>
            <c:strLit>
              <c:ptCount val="5"/>
              <c:pt idx="0">
                <c:v>Product protection</c:v>
              </c:pt>
              <c:pt idx="1">
                <c:v>Quality &amp; visual cohesion</c:v>
              </c:pt>
              <c:pt idx="2">
                <c:v>Cost efficiency</c:v>
              </c:pt>
              <c:pt idx="3">
                <c:v>Production feasibility</c:v>
              </c:pt>
              <c:pt idx="4">
                <c:v>Unboxing experience</c:v>
              </c:pt>
            </c:strLit>
          </c:cat>
          <c:val>
            <c:numLit>
              <c:formatCode>General</c:formatCode>
              <c:ptCount val="5"/>
              <c:pt idx="0">
                <c:v>3</c:v>
              </c:pt>
              <c:pt idx="1">
                <c:v>2</c:v>
              </c:pt>
              <c:pt idx="2">
                <c:v>5</c:v>
              </c:pt>
              <c:pt idx="3">
                <c:v>5</c:v>
              </c:pt>
              <c:pt idx="4">
                <c:v>2</c:v>
              </c:pt>
            </c:numLit>
          </c:val>
        </c:ser>
        <c:ser>
          <c:idx val="1"/>
          <c:order val="1"/>
          <c:tx>
            <c:v>B  Premium Gift</c:v>
          </c:tx>
          <c:spPr>
            <a:ln xmlns:a="http://schemas.openxmlformats.org/drawingml/2006/main" w="19050">
              <a:solidFill>
                <a:srgbClr val="6A6963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6A6963"/>
              </a:solidFill>
            </c:spPr>
          </c:marker>
          <c:cat>
            <c:strLit>
              <c:ptCount val="5"/>
              <c:pt idx="0">
                <c:v>Product protection</c:v>
              </c:pt>
              <c:pt idx="1">
                <c:v>Quality &amp; visual cohesion</c:v>
              </c:pt>
              <c:pt idx="2">
                <c:v>Cost efficiency</c:v>
              </c:pt>
              <c:pt idx="3">
                <c:v>Production feasibility</c:v>
              </c:pt>
              <c:pt idx="4">
                <c:v>Unboxing experience</c:v>
              </c:pt>
            </c:strLit>
          </c:cat>
          <c:val>
            <c:numLit>
              <c:formatCode>General</c:formatCode>
              <c:ptCount val="5"/>
              <c:pt idx="0">
                <c:v>4</c:v>
              </c:pt>
              <c:pt idx="1">
                <c:v>5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</c:numLit>
          </c:val>
        </c:ser>
        <c:ser>
          <c:idx val="2"/>
          <c:order val="2"/>
          <c:tx>
            <c:v>C  Natural Ritual</c:v>
          </c:tx>
          <c:spPr>
            <a:ln xmlns:a="http://schemas.openxmlformats.org/drawingml/2006/main" w="19050">
              <a:solidFill>
                <a:srgbClr val="8F8E88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8F8E88"/>
              </a:solidFill>
            </c:spPr>
          </c:marker>
          <c:cat>
            <c:strLit>
              <c:ptCount val="5"/>
              <c:pt idx="0">
                <c:v>Product protection</c:v>
              </c:pt>
              <c:pt idx="1">
                <c:v>Quality &amp; visual cohesion</c:v>
              </c:pt>
              <c:pt idx="2">
                <c:v>Cost efficiency</c:v>
              </c:pt>
              <c:pt idx="3">
                <c:v>Production feasibility</c:v>
              </c:pt>
              <c:pt idx="4">
                <c:v>Unboxing experience</c:v>
              </c:pt>
            </c:strLit>
          </c:cat>
          <c:val>
            <c:numLit>
              <c:formatCode>General</c:formatCode>
              <c:ptCount val="5"/>
              <c:pt idx="0">
                <c:v>4</c:v>
              </c:pt>
              <c:pt idx="1">
                <c:v>5</c:v>
              </c:pt>
              <c:pt idx="2">
                <c:v>3</c:v>
              </c:pt>
              <c:pt idx="3">
                <c:v>3</c:v>
              </c:pt>
              <c:pt idx="4">
                <c:v>5</c:v>
              </c:pt>
            </c:numLit>
          </c:val>
        </c:ser>
        <c:axId val="48650112"/>
        <c:axId val="48672768"/>
      </c:rad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A696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EDDD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8F8E88"/>
                </a:solidFill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0EFEB"/>
        </a:solidFill>
        <a:ln xmlns:a="http://schemas.openxmlformats.org/drawingml/2006/main" w="0">
          <a:solidFill>
            <a:srgbClr val="F0EFEB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6A696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0EFEB"/>
    </a:solidFill>
    <a:ln xmlns:a="http://schemas.openxmlformats.org/drawingml/2006/main" w="0">
      <a:solidFill>
        <a:srgbClr val="F0EFEB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0EF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17714C-64A7-4862-B0DB-5CA213D3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BRAND IDENTITY / PACKAGING 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B60082-CC34-4A8E-8CF1-3C175901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6ED9B-8975-43C6-A144-8D84D526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428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4350" b="0" i="0">
                <a:solidFill>
                  <a:srgbClr val="1C1C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4350" b="0" i="0">
                <a:solidFill>
                  <a:srgbClr val="1C1C1A"/>
                </a:solidFill>
                <a:latin typeface="Georgia"/>
                <a:ea typeface="Georgia"/>
                <a:cs typeface="Georgia"/>
              </a:defRPr>
            </a:pPr>
            <a:r>
              <a:rPr sz="4350" b="0" i="0">
                <a:solidFill>
                  <a:srgbClr val="1C1C1A"/>
                </a:solidFill>
                <a:latin typeface="Georgia"/>
                <a:ea typeface="Georgia"/>
                <a:cs typeface="Georgia"/>
              </a:rPr>
              <a:t>QUARVURA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09FDE4-A444-42C4-918F-D5F10791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40481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0" i="0">
                <a:solidFill>
                  <a:srgbClr val="1C1C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50" b="0" i="0">
                <a:solidFill>
                  <a:srgbClr val="1C1C1A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1C1C1A"/>
                </a:solidFill>
                <a:latin typeface="Georgia"/>
                <a:ea typeface="Georgia"/>
                <a:cs typeface="Georgia"/>
              </a:rPr>
              <a:t>Brand Identity &amp;</a:t>
            </a:r>
          </a:p>
          <a:p xmlns:a="http://schemas.openxmlformats.org/drawingml/2006/main">
            <a:pPr algn="l">
              <a:defRPr sz="2550" b="0" i="0">
                <a:solidFill>
                  <a:srgbClr val="1C1C1A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1C1C1A"/>
                </a:solidFill>
                <a:latin typeface="Georgia"/>
                <a:ea typeface="Georgia"/>
                <a:cs typeface="Georgia"/>
              </a:rPr>
              <a:t>Packaging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4E52E-8C1E-4749-90E2-40CC4D26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C1AE6-998A-4C70-872F-FD863E9F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9090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Building a cohesive, gift-worthy packaging experience under real-world constraints.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79A5AD-54C5-42FF-88D5-835F517F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381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 i="0">
                <a:solidFill>
                  <a:srgbClr val="1C1C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1C1C1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C1C1A"/>
                </a:solidFill>
                <a:latin typeface="Arial"/>
                <a:ea typeface="Arial"/>
                <a:cs typeface="Arial"/>
              </a:rPr>
              <a:t>A natural crystal collection for the U.S. Amazon marketplace. I led naming and visual identity development, material research, packaging design, supplier coordination, and production refinement.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3FDB8-DEA3-46AA-994F-57873B10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NAMING / IDENTITY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0A13F1-BBAF-4902-AE63-29CE0053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197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 i="0">
                <a:solidFill>
                  <a:srgbClr val="1C1C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1C1C1A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1C1C1A"/>
                </a:solidFill>
                <a:latin typeface="Arial"/>
                <a:ea typeface="Arial"/>
                <a:cs typeface="Arial"/>
              </a:rPr>
              <a:t>~60-100 names; preliminary trademark screening. Q mark refined through 11 iterations for print, foil, and embossing.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B1AEB6-C0EE-407E-8626-4E1D42C6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674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ROLE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2EE250-CAD0-4C7A-9CD9-3DC86233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578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1C1C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1C1C1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C1C1A"/>
                </a:solidFill>
                <a:latin typeface="Arial"/>
                <a:ea typeface="Arial"/>
                <a:cs typeface="Arial"/>
              </a:rPr>
              <a:t>Independent project lead / Brand &amp; packaging designer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BA133E-BA92-46F9-963D-0E38D30D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MARKET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C7C98A-80D3-439C-8A1F-C2409EBE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2198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1C1C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1C1C1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C1C1A"/>
                </a:solidFill>
                <a:latin typeface="Arial"/>
                <a:ea typeface="Arial"/>
                <a:cs typeface="Arial"/>
              </a:rPr>
              <a:t>United States / Amazon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BA85C7-49E0-4991-8884-BEFB685F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COST TARGET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3E95F3-3C96-43A7-AF44-F1C40B1F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817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1C1C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1C1C1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C1C1A"/>
                </a:solidFill>
                <a:latin typeface="Arial"/>
                <a:ea typeface="Arial"/>
                <a:cs typeface="Arial"/>
              </a:rPr>
              <a:t>≤ RMB 10 per 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56CB07-793D-4196-B5FA-202AF735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52450"/>
            <a:ext cx="5362575" cy="586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1"/>
          </a:solidFill>
          <a:ln xmlns:a="http://schemas.openxmlformats.org/drawingml/2006/main" w="9525">
            <a:solidFill>
              <a:srgbClr val="C6C5B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158103-FC18-492F-8924-C07E7F51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704850"/>
            <a:ext cx="5019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ORIGINAL ASSET NEEDED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5806AA-CF2E-444A-84F0-79963936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840736"/>
            <a:ext cx="49434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00" b="0" i="0">
                <a:solidFill>
                  <a:srgbClr val="1C1C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1800" b="0" i="0">
                <a:solidFill>
                  <a:srgbClr val="1C1C1A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C1C1A"/>
                </a:solidFill>
                <a:latin typeface="Georgia"/>
                <a:ea typeface="Georgia"/>
                <a:cs typeface="Georgia"/>
              </a:rPr>
              <a:t>Complete packaging set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743595-EF68-48B9-89B7-62521787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596265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0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Original product + packaging photograph / landscape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CF8D4E-1ADD-4E56-9681-EF014614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64700"/>
            <a:ext cx="96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D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7EF94A-5CC6-4C25-B500-FAB57B93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88525"/>
            <a:ext cx="5619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QUARVURA  /  BRAND IDENTITY &amp; PACKAGING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8F66E6-25F1-46D7-966D-4812909C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250" y="7188525"/>
            <a:ext cx="914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01  /  04</a:t>
            </a:r>
          </a:p>
        </p:txBody>
      </p:sp>
    </p:spTree>
    <p:extLst>
      <p:ext uri="{BB962C8B-B14F-4D97-AF65-F5344CB8AC3E}">
        <p14:creationId xmlns:p14="http://schemas.microsoft.com/office/powerpoint/2010/main" val="7460367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0EF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9C7AAD-5EB3-46D2-99D8-870854B2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02 / RESEARCH &amp; DESIGN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6FF0A-A2D6-4F57-B9ED-71FA8053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0" i="0">
                <a:solidFill>
                  <a:srgbClr val="1C1C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50" b="0" i="0">
                <a:solidFill>
                  <a:srgbClr val="1C1C1A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1C1C1A"/>
                </a:solidFill>
                <a:latin typeface="Georgia"/>
                <a:ea typeface="Georgia"/>
                <a:cs typeface="Georgia"/>
              </a:rPr>
              <a:t>Three routes, five criteria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68F174-51E3-469E-968B-28E898C8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Packaging directions were compared against protection, perceived quality, cost efficiency, production feasibility, and unboxing experience.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8E4B07-64A4-48E3-8B02-50E23203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812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C21917-6A85-4585-A14B-5C729EBA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 i="0">
                <a:solidFill>
                  <a:srgbClr val="1C1C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1C1C1A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1C1C1A"/>
                </a:solidFill>
                <a:latin typeface="Georgia"/>
                <a:ea typeface="Georgia"/>
                <a:cs typeface="Georgia"/>
              </a:rPr>
              <a:t>Essential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08E7BD-68EC-4B44-9986-884DD80B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Pouch, protective wrap, kraft box, and basic printed inserts.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A2E4DB-8538-4803-97AC-971107E5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289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 i="0">
                <a:solidFill>
                  <a:srgbClr val="1C1C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1C1C1A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C1C1A"/>
                </a:solidFill>
                <a:latin typeface="Arial"/>
                <a:ea typeface="Arial"/>
                <a:cs typeface="Arial"/>
              </a:rPr>
              <a:t>Low-cost and easy to source; less distinctive as a gift.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95BE0F-284D-4E8C-BB3F-B51A3940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5757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D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1CB426-52F7-4823-A5A8-102E53B0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480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742D13-CB90-45C9-B114-71F3D7F3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 i="0">
                <a:solidFill>
                  <a:srgbClr val="1C1C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1C1C1A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1C1C1A"/>
                </a:solidFill>
                <a:latin typeface="Georgia"/>
                <a:ea typeface="Georgia"/>
                <a:cs typeface="Georgia"/>
              </a:rPr>
              <a:t>Premium Gift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D164CF-4167-483F-9EEA-E11961BE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Rigid drawer box, branded pouch, tissue, and foil details.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3D6553-5B59-4106-B1F7-C530A1B6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 i="0">
                <a:solidFill>
                  <a:srgbClr val="1C1C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1C1C1A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C1C1A"/>
                </a:solidFill>
                <a:latin typeface="Arial"/>
                <a:ea typeface="Arial"/>
                <a:cs typeface="Arial"/>
              </a:rPr>
              <a:t>High presentation value; more cost, volume, and production complexity.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149DBF-928E-48DF-926C-31BFAA6E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2442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D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D0D7B4-D31A-4B6C-B641-86C694E0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149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888156-D87A-4392-99A1-3BD4EE54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 i="0">
                <a:solidFill>
                  <a:srgbClr val="1C1C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1C1C1A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1C1C1A"/>
                </a:solidFill>
                <a:latin typeface="Georgia"/>
                <a:ea typeface="Georgia"/>
                <a:cs typeface="Georgia"/>
              </a:rPr>
              <a:t>Natural Ritual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A285EE-1C4A-41F8-9479-1444DEF5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102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Product-specific pouches, coconut bowl, honeycomb wrap, and raffia.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4C4DA6-64FC-4498-8F7F-2EF46166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626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 i="0">
                <a:solidFill>
                  <a:srgbClr val="1C1C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1C1C1A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C1C1A"/>
                </a:solidFill>
                <a:latin typeface="Arial"/>
                <a:ea typeface="Arial"/>
                <a:cs typeface="Arial"/>
              </a:rPr>
              <a:t>Selected for a more coherent, layered unboxing experience.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99581A-2BC9-46AC-AB84-C8CCFFD8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39127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D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570F05-C806-4168-9B79-2F7DE1E2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097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QUALITATIVE CONCEPT COMPARISON</a:t>
            </a:r>
          </a:p>
        </p:txBody>
      </p:sp>
      <p:graphicFrame>
        <p:nvGraphicFramePr>
          <p:cNvPr id="20" name="Chart">
            <a:extLst xmlns:a="http://schemas.openxmlformats.org/drawingml/2006/main">
              <a:ext uri="{FF2B5EF4-FFF2-40B4-BE49-F238E27FC236}">
                <a16:creationId xmlns:a16="http://schemas.microsoft.com/office/drawing/2014/main" id="{78677B3F-4BFB-43E1-A749-4E37BD90CE13}"/>
              </a:ext>
            </a:extLst>
          </p:cNvPr>
          <p:cNvGraphicFramePr/>
          <p:nvPr/>
        </p:nvGraphicFramePr>
        <p:xfrm>
          <a:off xmlns:a="http://schemas.openxmlformats.org/drawingml/2006/main" x="5124450" y="2038350"/>
          <a:ext xmlns:a="http://schemas.openxmlformats.org/drawingml/2006/main" cx="519112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f3c31d7e12443ea"/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562DFA-10A0-40C4-930E-7E6B244E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85787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1 = low / 5 = high. Scores are comparative design judgments, not test results. Cost rankings require final supplier quotations.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B94611-F699-445C-BB15-98B177AF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64700"/>
            <a:ext cx="96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D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ABEE71-7109-4F7F-B51D-1C541C76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88525"/>
            <a:ext cx="5619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QUARVURA  /  BRAND IDENTITY &amp; PACKAGING SYSTEM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0EB9A3-337F-4BBE-B01D-F75CE0DC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250" y="7188525"/>
            <a:ext cx="914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02  /  04</a:t>
            </a:r>
          </a:p>
        </p:txBody>
      </p:sp>
    </p:spTree>
    <p:extLst>
      <p:ext uri="{BB962C8B-B14F-4D97-AF65-F5344CB8AC3E}">
        <p14:creationId xmlns:p14="http://schemas.microsoft.com/office/powerpoint/2010/main" val="7262788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0EF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16EE6B-8E0D-4955-A5CE-0C4A0521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03 / FINAL PACKAGING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F3B777-BBD1-4599-B24A-6444872A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0" i="0">
                <a:solidFill>
                  <a:srgbClr val="1C1C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50" b="0" i="0">
                <a:solidFill>
                  <a:srgbClr val="1C1C1A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1C1C1A"/>
                </a:solidFill>
                <a:latin typeface="Georgia"/>
                <a:ea typeface="Georgia"/>
                <a:cs typeface="Georgia"/>
              </a:rPr>
              <a:t>A layered packaging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9AE574-F47B-4271-B99A-8978406D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638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Each component has a clear role in protection, organization, and presentation.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0077A5-A121-47A1-8AC9-2D64257A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76425"/>
            <a:ext cx="5286375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1"/>
          </a:solidFill>
          <a:ln xmlns:a="http://schemas.openxmlformats.org/drawingml/2006/main" w="9525">
            <a:solidFill>
              <a:srgbClr val="C6C5B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B0C12-906D-4A6F-8100-BA46CA6A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4943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ORIGINAL ASSET NEEDED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0B507-5163-43ED-82AA-033F8491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8063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75" b="0" i="0">
                <a:solidFill>
                  <a:srgbClr val="1C1C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1C1C1A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1C1C1A"/>
                </a:solidFill>
                <a:latin typeface="Georgia"/>
                <a:ea typeface="Georgia"/>
                <a:cs typeface="Georgia"/>
              </a:rPr>
              <a:t>Open package / overhead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D920CA-3818-4316-8A1D-28955C9A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05475"/>
            <a:ext cx="4829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0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Original photograph showing all layers in order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CFBA26-2D72-4E3B-916D-63EA2B78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14525"/>
            <a:ext cx="394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01  TOP 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15681C-19B2-4EF4-A23D-0CE6DCFA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 i="0">
                <a:solidFill>
                  <a:srgbClr val="1C1C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1C1C1A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1C1C1A"/>
                </a:solidFill>
                <a:latin typeface="Georgia"/>
                <a:ea typeface="Georgia"/>
                <a:cs typeface="Georgia"/>
              </a:rPr>
              <a:t>Brand card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A193E4-328E-4A43-9BC4-E75A3C67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05075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Brand communication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EAAD4F-D4BE-4D75-8607-48F8A0CD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28925"/>
            <a:ext cx="394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D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E73BFB-7792-46B1-B9C6-B63FB8E4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33700"/>
            <a:ext cx="394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02  PROTECTIVE 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F420BD-0092-49B5-93B3-BD93E247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71825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 i="0">
                <a:solidFill>
                  <a:srgbClr val="1C1C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1C1C1A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1C1C1A"/>
                </a:solidFill>
                <a:latin typeface="Georgia"/>
                <a:ea typeface="Georgia"/>
                <a:cs typeface="Georgia"/>
              </a:rPr>
              <a:t>Honeycomb paper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5F23D7-1C7E-40E8-A8C6-B776B254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Cushioning and surface protection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081D1A-8F1F-4338-8F15-65505876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394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D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5BA16A-7E82-4D5B-B515-A7F3F0B1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52875"/>
            <a:ext cx="394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03  PRODUCT ARRANGEMENT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611A84-D932-4471-8466-190E6183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 i="0">
                <a:solidFill>
                  <a:srgbClr val="1C1C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1C1C1A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1C1C1A"/>
                </a:solidFill>
                <a:latin typeface="Georgia"/>
                <a:ea typeface="Georgia"/>
                <a:cs typeface="Georgia"/>
              </a:rPr>
              <a:t>Coconut bowl / snap pouch / mesh pouch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E0815D-1C2A-4CE9-B543-AA9361E0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43425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Display, bracelet protection, crystal storage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48B0F6-E067-46C4-9FB2-9A156851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67275"/>
            <a:ext cx="394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D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7309F7-5EFE-47D3-9104-26B474E0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72050"/>
            <a:ext cx="394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04  BOTTOM + OUTER STRUCTURE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9BF2D6-6671-42A7-A4ED-07A6D97F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0175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 i="0">
                <a:solidFill>
                  <a:srgbClr val="1C1C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1C1C1A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1C1C1A"/>
                </a:solidFill>
                <a:latin typeface="Georgia"/>
                <a:ea typeface="Georgia"/>
                <a:cs typeface="Georgia"/>
              </a:rPr>
              <a:t>Raffia filling / corrugated mailer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B466F4-16C0-40A3-BE6F-A073D059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62600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Cushioning, texture, and containment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DF73F7-E226-4991-890A-7637FAC8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05525"/>
            <a:ext cx="394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OTHER PRODUCT VARIATIONS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023B02-67C2-4369-8E5C-E13E1894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315075"/>
            <a:ext cx="3943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 i="0">
                <a:solidFill>
                  <a:srgbClr val="1C1C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1C1C1A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1C1C1A"/>
                </a:solidFill>
                <a:latin typeface="Arial"/>
                <a:ea typeface="Arial"/>
                <a:cs typeface="Arial"/>
              </a:rPr>
              <a:t>Raw crystal set: individually protected stones + canvas pouch</a:t>
            </a:r>
          </a:p>
          <a:p xmlns:a="http://schemas.openxmlformats.org/drawingml/2006/main">
            <a:pPr algn="l">
              <a:defRPr sz="825" b="0" i="0">
                <a:solidFill>
                  <a:srgbClr val="1C1C1A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1C1C1A"/>
                </a:solidFill>
                <a:latin typeface="Arial"/>
                <a:ea typeface="Arial"/>
                <a:cs typeface="Arial"/>
              </a:rPr>
              <a:t>Tumbled crystal set: individually protected stones + microfiber pouch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11DAA5-A1EB-4EBC-8C71-0DAF5332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64700"/>
            <a:ext cx="96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D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B9629D-E30E-4544-915A-07EAD54A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88525"/>
            <a:ext cx="5619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QUARVURA  /  BRAND IDENTITY &amp; PACKAGING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375CF4-F7C1-4D01-8C4F-FBAFCA22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250" y="7188525"/>
            <a:ext cx="914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03  /  04</a:t>
            </a:r>
          </a:p>
        </p:txBody>
      </p:sp>
    </p:spTree>
    <p:extLst>
      <p:ext uri="{BB962C8B-B14F-4D97-AF65-F5344CB8AC3E}">
        <p14:creationId xmlns:p14="http://schemas.microsoft.com/office/powerpoint/2010/main" val="2896704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0EF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440BA8-23E3-48B0-9124-4601108F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04 / PRODUCTION &amp; REFLECTION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D44CA-5270-4DF4-A804-B02D5717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0" i="0">
                <a:solidFill>
                  <a:srgbClr val="1C1C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50" b="0" i="0">
                <a:solidFill>
                  <a:srgbClr val="1C1C1A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1C1C1A"/>
                </a:solidFill>
                <a:latin typeface="Georgia"/>
                <a:ea typeface="Georgia"/>
                <a:cs typeface="Georgia"/>
              </a:rPr>
              <a:t>Designed for production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14AC8-F81D-4296-ACAB-49533842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Supplier feedback and material behavior informed the final refinements.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755F3-934E-40BC-9AAA-F17C3299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76425"/>
            <a:ext cx="26670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1"/>
          </a:solidFill>
          <a:ln xmlns:a="http://schemas.openxmlformats.org/drawingml/2006/main" w="9525">
            <a:solidFill>
              <a:srgbClr val="C6C5B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17ED83-5F77-4D0B-A0E7-50E98606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ORIGINAL ASSET NEEDED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AA08D-3F4F-4044-A37A-206AA766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3388"/>
            <a:ext cx="2247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0" i="0">
                <a:solidFill>
                  <a:srgbClr val="1C1C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1C1C1A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C1C1A"/>
                </a:solidFill>
                <a:latin typeface="Georgia"/>
                <a:ea typeface="Georgia"/>
                <a:cs typeface="Georgia"/>
              </a:rPr>
              <a:t>Early card 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BF750B-53A4-4758-A575-9886C821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0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Original design iteration / before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E347A2-27FB-4F23-9491-21941D6A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76425"/>
            <a:ext cx="26670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1"/>
          </a:solidFill>
          <a:ln xmlns:a="http://schemas.openxmlformats.org/drawingml/2006/main" w="9525">
            <a:solidFill>
              <a:srgbClr val="C6C5B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0123F9-2FA7-4330-AC97-AF2E56BF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28825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ORIGINAL ASSET NEEDED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674A97-6DC4-47BE-A714-10B4CC92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23388"/>
            <a:ext cx="2247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0" i="0">
                <a:solidFill>
                  <a:srgbClr val="1C1C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1C1C1A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C1C1A"/>
                </a:solidFill>
                <a:latin typeface="Georgia"/>
                <a:ea typeface="Georgia"/>
                <a:cs typeface="Georgia"/>
              </a:rPr>
              <a:t>Refined card design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A1B130-BC29-4303-AC66-399C7A68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90925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0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Original production-ready iteration / after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80A83E-E1ED-4B4D-B9E0-834ADF39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5524500" cy="2066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1"/>
          </a:solidFill>
          <a:ln xmlns:a="http://schemas.openxmlformats.org/drawingml/2006/main" w="9525">
            <a:solidFill>
              <a:srgbClr val="C6C5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33891E-2AB0-4EF9-B3E2-2859907D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518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ORIGINAL ASSET NEEDED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1A4A3F-2BC1-4A03-A09A-037CB533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3776"/>
            <a:ext cx="510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0" i="0">
                <a:solidFill>
                  <a:srgbClr val="1C1C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1C1C1A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1C1C1A"/>
                </a:solidFill>
                <a:latin typeface="Georgia"/>
                <a:ea typeface="Georgia"/>
                <a:cs typeface="Georgia"/>
              </a:rPr>
              <a:t>Physical package in use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4E96DD-DD4A-452E-BAD7-00ACE740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67400"/>
            <a:ext cx="506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0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Original production photograph / packaging detail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2BAF5F-568B-4CDF-A685-C0C4F635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95475"/>
            <a:ext cx="3638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PRODUCTION REFINEMENT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558E46-007D-4352-BC36-5FBFFACF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90750"/>
            <a:ext cx="3638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 i="0">
                <a:solidFill>
                  <a:srgbClr val="1C1C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1C1C1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C1C1A"/>
                </a:solidFill>
                <a:latin typeface="Arial"/>
                <a:ea typeface="Arial"/>
                <a:cs typeface="Arial"/>
              </a:rPr>
              <a:t>Decorative card borders proved difficult to reproduce consistently in small batches. After supplier feedback, I simplified the layout and removed a border where trimming variation could be visible.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F5FB95-4711-47E1-B514-034E3DBD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19475"/>
            <a:ext cx="3638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D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320795-6CCF-485D-B98A-0B967F51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19500"/>
            <a:ext cx="3638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AI-ASSISTED EXPLORATION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EADC2C-9203-4DE9-BA92-C6410832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914775"/>
            <a:ext cx="36385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 i="0">
                <a:solidFill>
                  <a:srgbClr val="1C1C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1C1C1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C1C1A"/>
                </a:solidFill>
                <a:latin typeface="Arial"/>
                <a:ea typeface="Arial"/>
                <a:cs typeface="Arial"/>
              </a:rPr>
              <a:t>AI-assisted concept generation helped explore the seven-chakra card, but often introduced incorrect symbol counts, color sequences, or duplicated text. I refined the constraints and corrected the final design manually in Photoshop.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018178-9241-4053-9E1F-338C58A8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191125"/>
            <a:ext cx="3638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D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FFBC94-3A5D-4BA3-B605-B10ED5F6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400675"/>
            <a:ext cx="3638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REFLECTION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C5FD7F-90E2-4CE2-B083-E518C91B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695950"/>
            <a:ext cx="3638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1C1C1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1C1C1A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C1C1A"/>
                </a:solidFill>
                <a:latin typeface="Georgia"/>
                <a:ea typeface="Georgia"/>
                <a:cs typeface="Georgia"/>
              </a:rPr>
              <a:t>I moved from individual graphics to a system shaped by material behavior, cost limits, and production tolerances.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04A90D-B704-4863-BA41-2CA37C3D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6419850"/>
            <a:ext cx="3638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NEXT: verify final unit cost and run standardized transit testing.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1B8EEC-3022-4001-8A3B-5E3A3383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64700"/>
            <a:ext cx="96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D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8DB0D6-6A40-43AB-8DCB-E1783487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88525"/>
            <a:ext cx="5619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50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QUARVURA  /  BRAND IDENTITY &amp; PACKAGING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8078EB-F444-439A-BD8B-C98C3E9E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250" y="7188525"/>
            <a:ext cx="914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750" b="1" i="0">
                <a:solidFill>
                  <a:srgbClr val="6A6963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A6963"/>
                </a:solidFill>
                <a:latin typeface="Arial"/>
                <a:ea typeface="Arial"/>
                <a:cs typeface="Arial"/>
              </a:rPr>
              <a:t>04  /  04</a:t>
            </a:r>
          </a:p>
        </p:txBody>
      </p:sp>
    </p:spTree>
    <p:extLst>
      <p:ext uri="{BB962C8B-B14F-4D97-AF65-F5344CB8AC3E}">
        <p14:creationId xmlns:p14="http://schemas.microsoft.com/office/powerpoint/2010/main" val="20721662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2026-10-19T09:27:33.3150000Z</dcterms:created>
  <dcterms:modified xsi:type="dcterms:W3CDTF">2026-10-19T09:27:33.3150000Z</dcterms:modified>
</coreProperties>
</file>
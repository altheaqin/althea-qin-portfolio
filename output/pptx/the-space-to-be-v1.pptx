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0691495" cy="7559675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69200" y="2856000"/>
            <a:ext cx="8553600" cy="109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603800" y="4158000"/>
            <a:ext cx="7484400" cy="840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069200" y="3150000"/>
            <a:ext cx="8553600" cy="1260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01425" y="588000"/>
            <a:ext cx="9489150" cy="92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01425" y="2100000"/>
            <a:ext cx="9489150" cy="470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66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99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33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66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36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670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03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37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70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01425" y="588000"/>
            <a:ext cx="9489150" cy="92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01425" y="2100000"/>
            <a:ext cx="4410450" cy="470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66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99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33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66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36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670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03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37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70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5680125" y="2100000"/>
            <a:ext cx="4410450" cy="470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66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99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33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66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36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670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03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37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70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01425" y="588000"/>
            <a:ext cx="9489150" cy="92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01425" y="2100000"/>
            <a:ext cx="4410450" cy="470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66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99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33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66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36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670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03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370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705" indent="-200660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33350" cy="7560000"/>
          </a:xfrm>
          <a:prstGeom prst="rect">
            <a:avLst/>
          </a:prstGeom>
          <a:solidFill>
            <a:srgbClr val="127A9A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457200"/>
            <a:ext cx="3105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PORTRAIT PHOTOGRAPHY / CREATIVE DIRECTION</a:t>
            </a:r>
            <a:endParaRPr sz="825" b="1" i="0">
              <a:solidFill>
                <a:srgbClr val="127A9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95300" y="971550"/>
            <a:ext cx="32861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defPPr>
            <a:lvl1pPr algn="l">
              <a:def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  <a:lvl2pPr algn="l">
              <a:def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2pPr>
            <a:lvl3pPr algn="l">
              <a:def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3pPr>
            <a:lvl4pPr algn="l">
              <a:def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4pPr>
            <a:lvl5pPr algn="l">
              <a:def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5pPr>
            <a:lvl6pPr algn="l">
              <a:def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6pPr>
            <a:lvl7pPr algn="l">
              <a:def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7pPr>
            <a:lvl8pPr algn="l">
              <a:def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8pPr>
            <a:lvl9pPr algn="l">
              <a:def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9pPr>
          </a:lstStyle>
          <a:p>
            <a:pPr algn="l">
              <a:def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The Space</a:t>
            </a:r>
            <a:endParaRPr sz="4125" b="0" i="0">
              <a:solidFill>
                <a:srgbClr val="171715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  <a:p>
            <a:pPr algn="l">
              <a:def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41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to Be</a:t>
            </a:r>
            <a:endParaRPr sz="4125" b="0" i="0">
              <a:solidFill>
                <a:srgbClr val="171715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2647950"/>
            <a:ext cx="800100" cy="28575"/>
          </a:xfrm>
          <a:prstGeom prst="rect">
            <a:avLst/>
          </a:prstGeom>
          <a:solidFill>
            <a:srgbClr val="127A9A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962275"/>
            <a:ext cx="3219450" cy="3352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Portrait photography often begins with a simple wish: to see a beautiful version of oneself. Yet the camera can turn self-expression into self-judgment.</a:t>
            </a:r>
            <a:endParaRPr sz="1290" b="0" i="0">
              <a:solidFill>
                <a:srgbClr val="1717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endParaRPr sz="1290"/>
          </a:p>
          <a:p>
            <a:pPr algn="l">
              <a:def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 begin with conversation. Before each shoot, I listen to how each subject wants to be seen, then translate those expectations into styling, setting, and visual direction. During the session, I use imagination and gentle guidance rather than fixed poses.</a:t>
            </a:r>
            <a:endParaRPr sz="1290" b="0" i="0">
              <a:solidFill>
                <a:srgbClr val="1717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endParaRPr sz="1290"/>
          </a:p>
          <a:p>
            <a:pPr algn="l">
              <a:def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90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By building trust around the image-making process, I aim to create portraits that hold both individuality and aspiration.</a:t>
            </a:r>
            <a:endParaRPr sz="1290" b="0" i="0">
              <a:solidFill>
                <a:srgbClr val="1717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14680" r="14680"/>
          <a:stretch>
            <a:fillRect/>
          </a:stretch>
        </p:blipFill>
        <p:spPr>
          <a:xfrm>
            <a:off x="4095750" y="514350"/>
            <a:ext cx="6096000" cy="57531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343650" y="6477000"/>
            <a:ext cx="384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275" b="0" i="1">
                <a:solidFill>
                  <a:srgbClr val="6C6A6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defPPr>
            <a:lvl1pPr algn="r">
              <a:defRPr sz="1275" b="0" i="1">
                <a:solidFill>
                  <a:srgbClr val="6C6A6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  <a:lvl2pPr algn="r">
              <a:defRPr sz="1275" b="0" i="1">
                <a:solidFill>
                  <a:srgbClr val="6C6A6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2pPr>
            <a:lvl3pPr algn="r">
              <a:defRPr sz="1275" b="0" i="1">
                <a:solidFill>
                  <a:srgbClr val="6C6A6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3pPr>
            <a:lvl4pPr algn="r">
              <a:defRPr sz="1275" b="0" i="1">
                <a:solidFill>
                  <a:srgbClr val="6C6A6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4pPr>
            <a:lvl5pPr algn="r">
              <a:defRPr sz="1275" b="0" i="1">
                <a:solidFill>
                  <a:srgbClr val="6C6A6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5pPr>
            <a:lvl6pPr algn="r">
              <a:defRPr sz="1275" b="0" i="1">
                <a:solidFill>
                  <a:srgbClr val="6C6A6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6pPr>
            <a:lvl7pPr algn="r">
              <a:defRPr sz="1275" b="0" i="1">
                <a:solidFill>
                  <a:srgbClr val="6C6A6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7pPr>
            <a:lvl8pPr algn="r">
              <a:defRPr sz="1275" b="0" i="1">
                <a:solidFill>
                  <a:srgbClr val="6C6A6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8pPr>
            <a:lvl9pPr algn="r">
              <a:defRPr sz="1275" b="0" i="1">
                <a:solidFill>
                  <a:srgbClr val="6C6A6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9pPr>
          </a:lstStyle>
          <a:p>
            <a:pPr algn="r">
              <a:defRPr sz="1275" b="0" i="1">
                <a:solidFill>
                  <a:srgbClr val="6C6A6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6C6A64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A portrait begins before the camera is raised.</a:t>
            </a:r>
            <a:endParaRPr sz="1275" b="0" i="1">
              <a:solidFill>
                <a:srgbClr val="6C6A64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71599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 03   01/03</a:t>
            </a:r>
            <a:endParaRPr sz="790" b="1" i="0">
              <a:solidFill>
                <a:srgbClr val="6C6A6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B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14350" y="457200"/>
            <a:ext cx="495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6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defPPr>
            <a:lvl1pPr algn="l">
              <a:defRPr sz="26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  <a:lvl2pPr algn="l">
              <a:defRPr sz="26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2pPr>
            <a:lvl3pPr algn="l">
              <a:defRPr sz="26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3pPr>
            <a:lvl4pPr algn="l">
              <a:defRPr sz="26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4pPr>
            <a:lvl5pPr algn="l">
              <a:defRPr sz="26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5pPr>
            <a:lvl6pPr algn="l">
              <a:defRPr sz="26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6pPr>
            <a:lvl7pPr algn="l">
              <a:defRPr sz="26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7pPr>
            <a:lvl8pPr algn="l">
              <a:defRPr sz="26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8pPr>
            <a:lvl9pPr algn="l">
              <a:defRPr sz="26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9pPr>
          </a:lstStyle>
          <a:p>
            <a:pPr algn="l">
              <a:defRPr sz="26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62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From Conversation to Character</a:t>
            </a:r>
            <a:endParaRPr sz="2625" b="0" i="0">
              <a:solidFill>
                <a:srgbClr val="171715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000125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0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90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90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90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90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90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90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90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90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90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90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fashion-inspired portrait session</a:t>
            </a:r>
            <a:endParaRPr sz="900" b="1" i="0">
              <a:solidFill>
                <a:srgbClr val="6C6A6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5379" b="5379"/>
          <a:stretch>
            <a:fillRect/>
          </a:stretch>
        </p:blipFill>
        <p:spPr>
          <a:xfrm>
            <a:off x="514350" y="1428750"/>
            <a:ext cx="3600450" cy="48196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5478" b="5478"/>
          <a:stretch>
            <a:fillRect/>
          </a:stretch>
        </p:blipFill>
        <p:spPr>
          <a:xfrm>
            <a:off x="4362450" y="1104900"/>
            <a:ext cx="2724150" cy="363855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448550" y="1066800"/>
            <a:ext cx="272415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75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1275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1275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1275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1275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1275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1275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1275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1275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1275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1275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 i="0">
                <a:solidFill>
                  <a:srgbClr val="1717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subject wanted portraits that felt like a magazine editorial. I translated that aspiration into a visual direction and invited her to imagine herself as a professional model. Rather than prescribe every gesture, I guided the role and let her explore expressions and poses with greater confidence.</a:t>
            </a:r>
            <a:endParaRPr sz="1275" b="0" i="0">
              <a:solidFill>
                <a:srgbClr val="1717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48550" y="3295650"/>
            <a:ext cx="2724150" cy="9525"/>
          </a:xfrm>
          <a:prstGeom prst="rect">
            <a:avLst/>
          </a:prstGeom>
          <a:solidFill>
            <a:srgbClr val="A8A6A0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48550" y="35242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825" b="1" i="0">
              <a:solidFill>
                <a:srgbClr val="127A9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67650" y="3524250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SUBJECT'S WISH</a:t>
            </a:r>
            <a:endParaRPr sz="790" b="1" i="0">
              <a:solidFill>
                <a:srgbClr val="6C6A6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67650" y="3752850"/>
            <a:ext cx="2324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defPPr>
            <a:lvl1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  <a:lvl2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2pPr>
            <a:lvl3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3pPr>
            <a:lvl4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4pPr>
            <a:lvl5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5pPr>
            <a:lvl6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6pPr>
            <a:lvl7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7pPr>
            <a:lvl8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8pPr>
            <a:lvl9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9pPr>
          </a:lstStyle>
          <a:p>
            <a: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Fashion magazine-inspired portraits</a:t>
            </a:r>
            <a:endParaRPr sz="1165" b="0" i="0">
              <a:solidFill>
                <a:srgbClr val="171715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48550" y="45148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825" b="1" i="0">
              <a:solidFill>
                <a:srgbClr val="127A9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67650" y="4514850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CREATIVE DIRECTION</a:t>
            </a:r>
            <a:endParaRPr sz="790" b="1" i="0">
              <a:solidFill>
                <a:srgbClr val="6C6A6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67650" y="4743450"/>
            <a:ext cx="2324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defPPr>
            <a:lvl1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  <a:lvl2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2pPr>
            <a:lvl3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3pPr>
            <a:lvl4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4pPr>
            <a:lvl5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5pPr>
            <a:lvl6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6pPr>
            <a:lvl7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7pPr>
            <a:lvl8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8pPr>
            <a:lvl9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9pPr>
          </a:lstStyle>
          <a:p>
            <a: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Editorial styling and role-based imagination</a:t>
            </a:r>
            <a:endParaRPr sz="1165" b="0" i="0">
              <a:solidFill>
                <a:srgbClr val="171715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48550" y="55054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1" i="0">
                <a:solidFill>
                  <a:srgbClr val="127A9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825" b="1" i="0">
              <a:solidFill>
                <a:srgbClr val="127A9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67650" y="5505450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PHOTOGRAPHIC EXPRESSION</a:t>
            </a:r>
            <a:endParaRPr sz="790" b="1" i="0">
              <a:solidFill>
                <a:srgbClr val="6C6A6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67650" y="5734050"/>
            <a:ext cx="2324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defPPr>
            <a:lvl1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  <a:lvl2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2pPr>
            <a:lvl3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3pPr>
            <a:lvl4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4pPr>
            <a:lvl5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5pPr>
            <a:lvl6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6pPr>
            <a:lvl7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7pPr>
            <a:lvl8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8pPr>
            <a:lvl9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9pPr>
          </a:lstStyle>
          <a:p>
            <a:pPr algn="l">
              <a:def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165" b="0" i="0">
                <a:solidFill>
                  <a:srgbClr val="171715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Gestures and expressions discovered through character</a:t>
            </a:r>
            <a:endParaRPr sz="1165" b="0" i="0">
              <a:solidFill>
                <a:srgbClr val="171715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5300" y="71599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90" b="1" i="0">
                <a:solidFill>
                  <a:srgbClr val="6C6A6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 03   02/03</a:t>
            </a:r>
            <a:endParaRPr sz="790" b="1" i="0">
              <a:solidFill>
                <a:srgbClr val="6C6A6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495300" y="495300"/>
            <a:ext cx="29146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700" b="0" i="0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defPPr>
            <a:lvl1pPr algn="l">
              <a:defRPr sz="2700" b="0" i="0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  <a:lvl2pPr algn="l">
              <a:defRPr sz="2700" b="0" i="0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2pPr>
            <a:lvl3pPr algn="l">
              <a:defRPr sz="2700" b="0" i="0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3pPr>
            <a:lvl4pPr algn="l">
              <a:defRPr sz="2700" b="0" i="0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4pPr>
            <a:lvl5pPr algn="l">
              <a:defRPr sz="2700" b="0" i="0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5pPr>
            <a:lvl6pPr algn="l">
              <a:defRPr sz="2700" b="0" i="0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6pPr>
            <a:lvl7pPr algn="l">
              <a:defRPr sz="2700" b="0" i="0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7pPr>
            <a:lvl8pPr algn="l">
              <a:defRPr sz="2700" b="0" i="0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8pPr>
            <a:lvl9pPr algn="l">
              <a:defRPr sz="2700" b="0" i="0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9pPr>
          </a:lstStyle>
          <a:p>
            <a:pPr algn="l">
              <a:defRPr sz="2700" b="0" i="0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700" b="0" i="0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Building a Story Together</a:t>
            </a:r>
            <a:endParaRPr sz="2700" b="0" i="0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1657350"/>
            <a:ext cx="685800" cy="28575"/>
          </a:xfrm>
          <a:prstGeom prst="rect">
            <a:avLst/>
          </a:prstGeom>
          <a:solidFill>
            <a:srgbClr val="8D2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1943100"/>
            <a:ext cx="2743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75" b="0" i="0">
                <a:solidFill>
                  <a:srgbClr val="EEEAE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1275" b="0" i="0">
                <a:solidFill>
                  <a:srgbClr val="EEEAE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1275" b="0" i="0">
                <a:solidFill>
                  <a:srgbClr val="EEEAE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1275" b="0" i="0">
                <a:solidFill>
                  <a:srgbClr val="EEEAE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1275" b="0" i="0">
                <a:solidFill>
                  <a:srgbClr val="EEEAE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1275" b="0" i="0">
                <a:solidFill>
                  <a:srgbClr val="EEEAE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1275" b="0" i="0">
                <a:solidFill>
                  <a:srgbClr val="EEEAE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1275" b="0" i="0">
                <a:solidFill>
                  <a:srgbClr val="EEEAE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1275" b="0" i="0">
                <a:solidFill>
                  <a:srgbClr val="EEEAE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1275" b="0" i="0">
                <a:solidFill>
                  <a:srgbClr val="EEEAE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1275" b="0" i="0">
                <a:solidFill>
                  <a:srgbClr val="EEEAE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 i="0">
                <a:solidFill>
                  <a:srgbClr val="EEEAE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 the traditional costume portraits, I began by discussing each subject's preferences and expectations. Those conversations informed the costumes, props, and setting. During the shoot, I invited the subjects to inhabit a world inspired by the past, allowing gesture and expression to emerge through the imagined role.</a:t>
            </a:r>
            <a:endParaRPr sz="1275" b="0" i="0">
              <a:solidFill>
                <a:srgbClr val="EEEAE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4705350"/>
            <a:ext cx="2724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790" b="1" i="0">
                <a:solidFill>
                  <a:srgbClr val="C98A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790" b="1" i="0">
                <a:solidFill>
                  <a:srgbClr val="C98A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790" b="1" i="0">
                <a:solidFill>
                  <a:srgbClr val="C98A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790" b="1" i="0">
                <a:solidFill>
                  <a:srgbClr val="C98A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790" b="1" i="0">
                <a:solidFill>
                  <a:srgbClr val="C98A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790" b="1" i="0">
                <a:solidFill>
                  <a:srgbClr val="C98A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790" b="1" i="0">
                <a:solidFill>
                  <a:srgbClr val="C98A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790" b="1" i="0">
                <a:solidFill>
                  <a:srgbClr val="C98A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790" b="1" i="0">
                <a:solidFill>
                  <a:srgbClr val="C98A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790" b="1" i="0">
                <a:solidFill>
                  <a:srgbClr val="C98A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790" b="1" i="0">
                <a:solidFill>
                  <a:srgbClr val="C98A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90" b="1" i="0">
                <a:solidFill>
                  <a:srgbClr val="C98A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COLLABORATIVE VISUAL DIRECTION</a:t>
            </a:r>
            <a:endParaRPr sz="790" b="1" i="0">
              <a:solidFill>
                <a:srgbClr val="C98A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5010150"/>
            <a:ext cx="27241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65" b="0" i="1">
                <a:solidFill>
                  <a:srgbClr val="D8D1C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defPPr>
            <a:lvl1pPr algn="l">
              <a:defRPr sz="1165" b="0" i="1">
                <a:solidFill>
                  <a:srgbClr val="D8D1C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  <a:lvl2pPr algn="l">
              <a:defRPr sz="1165" b="0" i="1">
                <a:solidFill>
                  <a:srgbClr val="D8D1C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2pPr>
            <a:lvl3pPr algn="l">
              <a:defRPr sz="1165" b="0" i="1">
                <a:solidFill>
                  <a:srgbClr val="D8D1C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3pPr>
            <a:lvl4pPr algn="l">
              <a:defRPr sz="1165" b="0" i="1">
                <a:solidFill>
                  <a:srgbClr val="D8D1C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4pPr>
            <a:lvl5pPr algn="l">
              <a:defRPr sz="1165" b="0" i="1">
                <a:solidFill>
                  <a:srgbClr val="D8D1C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5pPr>
            <a:lvl6pPr algn="l">
              <a:defRPr sz="1165" b="0" i="1">
                <a:solidFill>
                  <a:srgbClr val="D8D1C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6pPr>
            <a:lvl7pPr algn="l">
              <a:defRPr sz="1165" b="0" i="1">
                <a:solidFill>
                  <a:srgbClr val="D8D1C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7pPr>
            <a:lvl8pPr algn="l">
              <a:defRPr sz="1165" b="0" i="1">
                <a:solidFill>
                  <a:srgbClr val="D8D1C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8pPr>
            <a:lvl9pPr algn="l">
              <a:defRPr sz="1165" b="0" i="1">
                <a:solidFill>
                  <a:srgbClr val="D8D1C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9pPr>
          </a:lstStyle>
          <a:p>
            <a:pPr algn="l">
              <a:defRPr sz="1165" b="0" i="1">
                <a:solidFill>
                  <a:srgbClr val="D8D1C4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165" b="0" i="1">
                <a:solidFill>
                  <a:srgbClr val="D8D1C4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Costume, props, light, and spatial composition establish the atmosphere. The subject interprets the imagined role through her own gestures and expressions.</a:t>
            </a:r>
            <a:endParaRPr sz="1165" b="0" i="1">
              <a:solidFill>
                <a:srgbClr val="D8D1C4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12385" r="12385"/>
          <a:stretch>
            <a:fillRect/>
          </a:stretch>
        </p:blipFill>
        <p:spPr>
          <a:xfrm>
            <a:off x="3638550" y="457200"/>
            <a:ext cx="3105150" cy="61912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8221" r="8221"/>
          <a:stretch>
            <a:fillRect/>
          </a:stretch>
        </p:blipFill>
        <p:spPr>
          <a:xfrm>
            <a:off x="7029450" y="1066800"/>
            <a:ext cx="3162300" cy="56769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495300" y="71599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790" b="1" i="0">
                <a:solidFill>
                  <a:srgbClr val="BFB8A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  <a:lvl1pPr algn="l">
              <a:defRPr sz="790" b="1" i="0">
                <a:solidFill>
                  <a:srgbClr val="BFB8A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algn="l">
              <a:defRPr sz="790" b="1" i="0">
                <a:solidFill>
                  <a:srgbClr val="BFB8A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algn="l">
              <a:defRPr sz="790" b="1" i="0">
                <a:solidFill>
                  <a:srgbClr val="BFB8A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algn="l">
              <a:defRPr sz="790" b="1" i="0">
                <a:solidFill>
                  <a:srgbClr val="BFB8A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algn="l">
              <a:defRPr sz="790" b="1" i="0">
                <a:solidFill>
                  <a:srgbClr val="BFB8A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algn="l">
              <a:defRPr sz="790" b="1" i="0">
                <a:solidFill>
                  <a:srgbClr val="BFB8A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algn="l">
              <a:defRPr sz="790" b="1" i="0">
                <a:solidFill>
                  <a:srgbClr val="BFB8A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algn="l">
              <a:defRPr sz="790" b="1" i="0">
                <a:solidFill>
                  <a:srgbClr val="BFB8A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algn="l">
              <a:defRPr sz="790" b="1" i="0">
                <a:solidFill>
                  <a:srgbClr val="BFB8A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l">
              <a:defRPr sz="790" b="1" i="0">
                <a:solidFill>
                  <a:srgbClr val="BFB8A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90" b="1" i="0">
                <a:solidFill>
                  <a:srgbClr val="BFB8A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 03   03/03</a:t>
            </a:r>
            <a:endParaRPr sz="790" b="1" i="0">
              <a:solidFill>
                <a:srgbClr val="BFB8A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1769</Words>
  <Application>WPS 演示</Application>
  <PresentationFormat>Converted Presentation</PresentationFormat>
  <Paragraphs>51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Arial</vt:lpstr>
      <vt:lpstr>Georgia</vt:lpstr>
      <vt:lpstr>微软雅黑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哄哄</cp:lastModifiedBy>
  <cp:revision>1</cp:revision>
  <dcterms:created xsi:type="dcterms:W3CDTF">2026-10-19T00:32:25Z</dcterms:created>
  <dcterms:modified xsi:type="dcterms:W3CDTF">2026-10-19T00:32:25Z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8033CBD128904EEA92A12A19A2D8D8DB_12</vt:lpwstr>
  </property>
  <property fmtid="{D5CDD505-2E9C-101B-9397-08002B2CF9AE}" pid="3" name="KSOProductBuildVer">
    <vt:lpwstr>2052-12.1.0.29161</vt:lpwstr>
  </property>
</Properties>
</file>